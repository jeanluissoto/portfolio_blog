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Pipeline OCR Intelligent &amp; Intégration IA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Soutenance de Projet - RNCP37827BC02</a:t>
            </a:r>
            <a:br/>
            <a:br/>
            <a:r>
              <a:rPr/>
              <a:t>Jean Luis Soto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Besoin métier</a:t>
            </a:r>
            <a:r>
              <a:rPr/>
              <a:t>: Une nécessité d’automatiser la saisie de factures fournisseurs complexes a été identifiée.</a:t>
            </a:r>
          </a:p>
          <a:p>
            <a:pPr lvl="0"/>
            <a:r>
              <a:rPr b="1"/>
              <a:t>Enjeux</a:t>
            </a:r>
            <a:r>
              <a:rPr/>
              <a:t>:</a:t>
            </a:r>
          </a:p>
          <a:p>
            <a:pPr lvl="1"/>
            <a:r>
              <a:rPr/>
              <a:t>Réduction significative du temps de traitement.</a:t>
            </a:r>
          </a:p>
          <a:p>
            <a:pPr lvl="1"/>
            <a:r>
              <a:rPr/>
              <a:t>Minimisation des erreurs humaines (Typo).</a:t>
            </a:r>
          </a:p>
          <a:p>
            <a:pPr lvl="1"/>
            <a:r>
              <a:rPr/>
              <a:t>Gestion de l’hétérogénéité des formats (PDF, Photos).</a:t>
            </a:r>
          </a:p>
          <a:p>
            <a:pPr lvl="0"/>
            <a:r>
              <a:rPr b="1"/>
              <a:t>Objectif Technique</a:t>
            </a:r>
            <a:r>
              <a:rPr/>
              <a:t>: L’intégration d’un service d’IA performant dans une architecture moderne a été réalisée.</a:t>
            </a:r>
          </a:p>
          <a:p>
            <a:pPr lvl="0"/>
            <a:r>
              <a:rPr b="1"/>
              <a:t>SLA Cible</a:t>
            </a:r>
            <a:r>
              <a:rPr/>
              <a:t>: Traitement de </a:t>
            </a:r>
            <a:r>
              <a:rPr b="1"/>
              <a:t>50 factures en moins de 5 minutes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Veille &amp; Benchmark (C6, C7)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Les Solutions Analysées</a:t>
            </a:r>
          </a:p>
          <a:p>
            <a:pPr lvl="0" indent="0" marL="0">
              <a:buNone/>
            </a:pPr>
            <a:r>
              <a:rPr/>
              <a:t>Une étude comparative a été menée sur les technologies suivantes :</a:t>
            </a:r>
          </a:p>
          <a:p>
            <a:pPr lvl="0" indent="-342900" marL="342900">
              <a:buAutoNum type="arabicPeriod"/>
            </a:pPr>
            <a:r>
              <a:rPr b="1"/>
              <a:t>Tesseract (OCR Classique)</a:t>
            </a:r>
            <a:r>
              <a:rPr/>
              <a:t>: Solution Open Source de référence “Baseline”.</a:t>
            </a:r>
          </a:p>
          <a:p>
            <a:pPr lvl="0" indent="-342900" marL="342900">
              <a:buAutoNum type="arabicPeriod"/>
            </a:pPr>
            <a:r>
              <a:rPr b="1"/>
              <a:t>Mistral (LLM)</a:t>
            </a:r>
            <a:r>
              <a:rPr/>
              <a:t>: Modèle génératif performant sur la compréhension contextuelle.</a:t>
            </a:r>
          </a:p>
          <a:p>
            <a:pPr lvl="0" indent="-342900" marL="342900">
              <a:buAutoNum type="arabicPeriod"/>
            </a:pPr>
            <a:r>
              <a:rPr b="1"/>
              <a:t>Llama 3 (LLM via Groq)</a:t>
            </a:r>
            <a:r>
              <a:rPr/>
              <a:t>: Sélectionné pour sa vitesse d’inférence exceptionnelle.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Critères de Sélection</a:t>
            </a:r>
          </a:p>
          <a:p>
            <a:pPr lvl="0" indent="0" marL="0">
              <a:buNone/>
            </a:pPr>
            <a:r>
              <a:rPr/>
              <a:t>Le choix s’est basé sur : * La précision de l’extraction (F1 Score). * La rapidité d’exécution (Conformité SLA). * L’analyse des coûts opérationnels (FinOps).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Architecture Technique (C9)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LR User[Utilisateur] –&gt;|Upload| Streamlit[App Streamlit] Streamlit –&gt;|Requête| API[API FastAPI] API –&gt;|Image| Preprocess[Preprocessing (OpenCV)] Preprocess –&gt;|Image Nettoyée| Router{Routeur} Router –&gt;|Mode A| Mistral[Mistral API] Router –&gt;|Mode B| LLM[Llama 3 / Groq] LLM –&gt;|JSON Structuré| API API –&gt;|Résultat| Streamlit MLflow[MLflow Tracking] -.-&gt;|Monitoring| LLM</a:t>
            </a:r>
          </a:p>
          <a:p>
            <a:pPr lvl="0"/>
            <a:r>
              <a:rPr b="1"/>
              <a:t>API REST</a:t>
            </a:r>
            <a:r>
              <a:rPr/>
              <a:t>: Une API FastAPI a été développée pour exposer le service.</a:t>
            </a:r>
          </a:p>
          <a:p>
            <a:pPr lvl="0"/>
            <a:r>
              <a:rPr b="1"/>
              <a:t>Frontend</a:t>
            </a:r>
            <a:r>
              <a:rPr/>
              <a:t>: Une interface Streamlit permet l’interaction utilisateur.</a:t>
            </a:r>
          </a:p>
          <a:p>
            <a:pPr lvl="0"/>
            <a:r>
              <a:rPr b="1"/>
              <a:t>Suivi</a:t>
            </a:r>
            <a:r>
              <a:rPr/>
              <a:t>: MLflow a été intégré pour le monitoring des performances (C11).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Configuration &amp; Données (C8, C12)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Configuration Centralisée</a:t>
            </a:r>
            <a:r>
              <a:rPr/>
              <a:t>: La gestion des paramètres s’effectue via des variables d’environnement (</a:t>
            </a:r>
            <a:r>
              <a:rPr>
                <a:latin typeface="Courier"/>
              </a:rPr>
              <a:t>.env</a:t>
            </a:r>
            <a:r>
              <a:rPr/>
              <a:t>) validées par Pydantic.</a:t>
            </a:r>
          </a:p>
          <a:p>
            <a:pPr lvl="0"/>
            <a:r>
              <a:rPr b="1"/>
              <a:t>Optimisation du Prétraitement (Optuna)</a:t>
            </a:r>
            <a:r>
              <a:rPr/>
              <a:t> :</a:t>
            </a:r>
          </a:p>
          <a:p>
            <a:pPr lvl="1"/>
            <a:r>
              <a:rPr/>
              <a:t>Afin de maximiser la qualité de l’OCR, une </a:t>
            </a:r>
            <a:r>
              <a:rPr b="1"/>
              <a:t>optimisation bayésienne des hyperparamètres (HPO)</a:t>
            </a:r>
            <a:r>
              <a:rPr/>
              <a:t> a été mise en œuvre avec </a:t>
            </a:r>
            <a:r>
              <a:rPr b="1"/>
              <a:t>Optuna</a:t>
            </a:r>
            <a:r>
              <a:rPr/>
              <a:t>.</a:t>
            </a:r>
          </a:p>
          <a:p>
            <a:pPr lvl="1"/>
            <a:r>
              <a:rPr/>
              <a:t>Cette approche a permis de déterminer scientifiquement les seuils optimaux de contraste et de débruitage.</a:t>
            </a:r>
          </a:p>
          <a:p>
            <a:pPr lvl="0"/>
            <a:r>
              <a:rPr b="1"/>
              <a:t>Validation des Données</a:t>
            </a:r>
            <a:r>
              <a:rPr/>
              <a:t>: Un schéma strict garantit la conformité des types (Dates, Montants).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Résultats &amp; Évaluation (C11)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Tableau de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 Score (Lignes)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 (Texte)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 (50 docs)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Tesseract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Mistral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~4.5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Llama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~1.5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Conclusion du Benchmark</a:t>
            </a:r>
            <a:r>
              <a:rPr sz="2000"/>
              <a:t> : Mistral a été retenu pour sa robustesse sur les structures complexes, tandis que Llama 3 offre une alternative ultra-rapide si le critère de vitesse devient prioritaire.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Démonstration (C10)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Scénario de la démonstration</a:t>
            </a:r>
            <a:r>
              <a:rPr/>
              <a:t>:</a:t>
            </a:r>
          </a:p>
          <a:p>
            <a:pPr lvl="1" indent="-342900" marL="685800">
              <a:buAutoNum type="arabicPeriod"/>
            </a:pPr>
            <a:r>
              <a:rPr/>
              <a:t>Upload d’une facture PDF non présente dans le jeu d’entraînement.</a:t>
            </a:r>
          </a:p>
          <a:p>
            <a:pPr lvl="1" indent="-342900" marL="685800">
              <a:buAutoNum type="arabicPeriod"/>
            </a:pPr>
            <a:r>
              <a:rPr/>
              <a:t>Traitement en temps réel via l’API.</a:t>
            </a:r>
          </a:p>
          <a:p>
            <a:pPr lvl="1" indent="-342900" marL="685800">
              <a:buAutoNum type="arabicPeriod"/>
            </a:pPr>
            <a:r>
              <a:rPr/>
              <a:t>Visualisation des données structurées extraites.</a:t>
            </a:r>
          </a:p>
          <a:p>
            <a:pPr lvl="1" indent="-342900" marL="685800">
              <a:buAutoNum type="arabicPeriod"/>
            </a:pPr>
            <a:r>
              <a:rPr/>
              <a:t>Vérification de la trace d’exécution dans MLflow.</a:t>
            </a:r>
          </a:p>
          <a:p>
            <a:pPr lvl="0" indent="0" marL="0">
              <a:buNone/>
            </a:pPr>
            <a:r>
              <a:rPr i="1"/>
              <a:t>(Démonstration en direct de l’application)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Industrialisation (C13)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Conteneurisation</a:t>
            </a:r>
            <a:r>
              <a:rPr/>
              <a:t>: L’application a été entièrement packagée sous Docker pour garantir la portabilité.</a:t>
            </a:r>
          </a:p>
          <a:p>
            <a:pPr lvl="0"/>
            <a:r>
              <a:rPr b="1"/>
              <a:t>CI/CD</a:t>
            </a:r>
            <a:r>
              <a:rPr/>
              <a:t>: Un pipeline de tests automatisés (</a:t>
            </a:r>
            <a:r>
              <a:rPr>
                <a:latin typeface="Courier"/>
              </a:rPr>
              <a:t>evaluations2.py</a:t>
            </a:r>
            <a:r>
              <a:rPr/>
              <a:t>) assure la non-régression avant chaque déploiement.</a:t>
            </a:r>
          </a:p>
          <a:p>
            <a:pPr lvl="0"/>
            <a:r>
              <a:rPr b="1"/>
              <a:t>Monitoring</a:t>
            </a:r>
            <a:r>
              <a:rPr/>
              <a:t>: Un système d’alerte sur la dérive des performances (Data Drift) a été configuré via MLflow.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Compétences Validées par le projet</a:t>
            </a:r>
            <a:r>
              <a:rPr/>
              <a:t>:</a:t>
            </a:r>
          </a:p>
          <a:p>
            <a:pPr lvl="1"/>
            <a:r>
              <a:rPr/>
              <a:t>Conduite d’une veille technologique structurée (C6, C7).</a:t>
            </a:r>
          </a:p>
          <a:p>
            <a:pPr lvl="1"/>
            <a:r>
              <a:rPr/>
              <a:t>Développement et sécurisation d’une API d’IA (C8, C9, C10).</a:t>
            </a:r>
          </a:p>
          <a:p>
            <a:pPr lvl="1"/>
            <a:r>
              <a:rPr/>
              <a:t>Mise en place d’une stratégie MLOps complète (C11, C12, C13).</a:t>
            </a:r>
          </a:p>
          <a:p>
            <a:pPr lvl="0"/>
            <a:r>
              <a:rPr b="1"/>
              <a:t>Perspectives d’évolution</a:t>
            </a:r>
            <a:r>
              <a:rPr/>
              <a:t>:</a:t>
            </a:r>
          </a:p>
          <a:p>
            <a:pPr lvl="1"/>
            <a:r>
              <a:rPr/>
              <a:t>Orchestration des flux via Apache Airflow.</a:t>
            </a:r>
          </a:p>
          <a:p>
            <a:pPr lvl="1"/>
            <a:r>
              <a:rPr/>
              <a:t>Fine-tuning spécifique sur les factures manuscrites.</a:t>
            </a:r>
          </a:p>
          <a:p>
            <a:pPr lvl="0" indent="0" marL="0">
              <a:buNone/>
            </a:pPr>
            <a:r>
              <a:rPr b="1"/>
              <a:t>Fin de la présentation.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OCR Intelligent &amp; Intégration IA</dc:title>
  <dc:creator>Jean Luis Soto</dc:creator>
  <cp:keywords/>
  <dcterms:created xsi:type="dcterms:W3CDTF">2026-02-02T14:34:07Z</dcterms:created>
  <dcterms:modified xsi:type="dcterms:W3CDTF">2026-02-02T14:34:07Z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2026-02-02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Soutenance de Projet - RNCP37827BC02</vt:lpwstr>
  </property>
  <property fmtid="{D5CDD505-2E9C-101B-9397-08002B2CF9AE}" pid="11" name="toc-title">
    <vt:lpwstr>Table of contents</vt:lpwstr>
  </property>
</Properties>
</file>